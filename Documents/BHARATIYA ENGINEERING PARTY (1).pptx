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2133" y="232029"/>
            <a:ext cx="3448684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9460" y="1992883"/>
            <a:ext cx="5653405" cy="431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isankonnect.in/?srsltid=AfmBOoqH3CZR0YIVPuCahWEcMnHln2" TargetMode="External"/><Relationship Id="rId3" Type="http://schemas.openxmlformats.org/officeDocument/2006/relationships/hyperlink" Target="https://agriwelfare.gov.in/" TargetMode="External"/><Relationship Id="rId7" Type="http://schemas.openxmlformats.org/officeDocument/2006/relationships/hyperlink" Target="https://em3agri.com/" TargetMode="External"/><Relationship Id="rId12" Type="http://schemas.openxmlformats.org/officeDocument/2006/relationships/image" Target="../media/image5.jpg"/><Relationship Id="rId2" Type="http://schemas.openxmlformats.org/officeDocument/2006/relationships/hyperlink" Target="https://www.niti.gov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ribazaar.com/" TargetMode="External"/><Relationship Id="rId11" Type="http://schemas.openxmlformats.org/officeDocument/2006/relationships/hyperlink" Target="https://farmerconnect.apeda.gov.in/Home/ForGroups?PaccessID=1" TargetMode="External"/><Relationship Id="rId5" Type="http://schemas.openxmlformats.org/officeDocument/2006/relationships/hyperlink" Target="https://www.fao.org/india/fao-in-india/india-at-a-glance/en/" TargetMode="External"/><Relationship Id="rId10" Type="http://schemas.openxmlformats.org/officeDocument/2006/relationships/hyperlink" Target="https://agristack.gov.in/" TargetMode="External"/><Relationship Id="rId4" Type="http://schemas.openxmlformats.org/officeDocument/2006/relationships/hyperlink" Target="https://www.accessagriculture.org/" TargetMode="External"/><Relationship Id="rId9" Type="http://schemas.openxmlformats.org/officeDocument/2006/relationships/hyperlink" Target="https://agmarknet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1DB4BD-8903-9B34-FBBC-D35BA8687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8" t="14445" r="21249" b="38889"/>
          <a:stretch>
            <a:fillRect/>
          </a:stretch>
        </p:blipFill>
        <p:spPr>
          <a:xfrm>
            <a:off x="18804" y="1600200"/>
            <a:ext cx="12180570" cy="5257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6F34A-12A9-A6A0-FA11-2DCEE4EAF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5" t="9965" r="40020" b="8924"/>
          <a:stretch>
            <a:fillRect/>
          </a:stretch>
        </p:blipFill>
        <p:spPr>
          <a:xfrm>
            <a:off x="1447800" y="-1"/>
            <a:ext cx="8534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E69D56-2AD7-E09C-20D3-C6D41260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8A0DD87-DAAD-2A9F-28D5-51AD70D8D9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0F914F10-4B6F-B1C7-57CB-9E3FBDBBA6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DCD772-000F-E633-9BB1-196EB2089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 t="44444" r="40000" b="5555"/>
          <a:stretch>
            <a:fillRect/>
          </a:stretch>
        </p:blipFill>
        <p:spPr>
          <a:xfrm>
            <a:off x="1363979" y="1510284"/>
            <a:ext cx="9160832" cy="4966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B9A29-B637-FC2B-467C-13A2044E0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r="72500" b="33333"/>
          <a:stretch>
            <a:fillRect/>
          </a:stretch>
        </p:blipFill>
        <p:spPr>
          <a:xfrm>
            <a:off x="3733800" y="152400"/>
            <a:ext cx="4343400" cy="120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6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224" y="1286255"/>
            <a:ext cx="5823585" cy="5363210"/>
          </a:xfrm>
          <a:custGeom>
            <a:avLst/>
            <a:gdLst/>
            <a:ahLst/>
            <a:cxnLst/>
            <a:rect l="l" t="t" r="r" b="b"/>
            <a:pathLst>
              <a:path w="5823585" h="5363209">
                <a:moveTo>
                  <a:pt x="0" y="5362956"/>
                </a:moveTo>
                <a:lnTo>
                  <a:pt x="5823204" y="5362956"/>
                </a:lnTo>
                <a:lnTo>
                  <a:pt x="5823204" y="0"/>
                </a:lnTo>
                <a:lnTo>
                  <a:pt x="0" y="0"/>
                </a:lnTo>
                <a:lnTo>
                  <a:pt x="0" y="5362956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9460" y="1306524"/>
            <a:ext cx="3090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IDEA</a:t>
            </a:r>
            <a:r>
              <a:rPr sz="2800" u="sng" spc="-1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/</a:t>
            </a:r>
            <a:r>
              <a:rPr sz="2800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sz="28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Create</a:t>
            </a:r>
            <a:r>
              <a:rPr spc="265" dirty="0"/>
              <a:t>  </a:t>
            </a:r>
            <a:r>
              <a:rPr dirty="0"/>
              <a:t>a</a:t>
            </a:r>
            <a:r>
              <a:rPr spc="270" dirty="0"/>
              <a:t>  </a:t>
            </a:r>
            <a:r>
              <a:rPr dirty="0"/>
              <a:t>digital</a:t>
            </a:r>
            <a:r>
              <a:rPr spc="260" dirty="0"/>
              <a:t>  </a:t>
            </a:r>
            <a:r>
              <a:rPr dirty="0"/>
              <a:t>platform</a:t>
            </a:r>
            <a:r>
              <a:rPr spc="254" dirty="0"/>
              <a:t>  </a:t>
            </a:r>
            <a:r>
              <a:rPr dirty="0"/>
              <a:t>(App</a:t>
            </a:r>
            <a:r>
              <a:rPr spc="270" dirty="0"/>
              <a:t>  </a:t>
            </a:r>
            <a:r>
              <a:rPr dirty="0"/>
              <a:t>+</a:t>
            </a:r>
            <a:r>
              <a:rPr spc="265" dirty="0"/>
              <a:t>  </a:t>
            </a:r>
            <a:r>
              <a:rPr dirty="0"/>
              <a:t>Website)</a:t>
            </a:r>
            <a:r>
              <a:rPr spc="270" dirty="0"/>
              <a:t>  </a:t>
            </a:r>
            <a:r>
              <a:rPr spc="-20" dirty="0"/>
              <a:t>that </a:t>
            </a:r>
            <a:r>
              <a:rPr dirty="0"/>
              <a:t>connects</a:t>
            </a:r>
            <a:r>
              <a:rPr spc="85" dirty="0"/>
              <a:t>  </a:t>
            </a:r>
            <a:r>
              <a:rPr dirty="0"/>
              <a:t>farmers,</a:t>
            </a:r>
            <a:r>
              <a:rPr spc="100" dirty="0"/>
              <a:t>  </a:t>
            </a:r>
            <a:r>
              <a:rPr dirty="0"/>
              <a:t>buyers,</a:t>
            </a:r>
            <a:r>
              <a:rPr spc="95" dirty="0"/>
              <a:t>  </a:t>
            </a:r>
            <a:r>
              <a:rPr dirty="0"/>
              <a:t>and</a:t>
            </a:r>
            <a:r>
              <a:rPr spc="95" dirty="0"/>
              <a:t>  </a:t>
            </a:r>
            <a:r>
              <a:rPr dirty="0"/>
              <a:t>service</a:t>
            </a:r>
            <a:r>
              <a:rPr spc="95" dirty="0"/>
              <a:t>  </a:t>
            </a:r>
            <a:r>
              <a:rPr dirty="0"/>
              <a:t>providers</a:t>
            </a:r>
            <a:r>
              <a:rPr spc="90" dirty="0"/>
              <a:t>  </a:t>
            </a:r>
            <a:r>
              <a:rPr spc="-25" dirty="0"/>
              <a:t>to </a:t>
            </a:r>
            <a:r>
              <a:rPr dirty="0"/>
              <a:t>solve</a:t>
            </a:r>
            <a:r>
              <a:rPr spc="-50" dirty="0"/>
              <a:t> </a:t>
            </a:r>
            <a:r>
              <a:rPr dirty="0"/>
              <a:t>challenges</a:t>
            </a:r>
            <a:r>
              <a:rPr spc="-8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agriculture.</a:t>
            </a: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10" dirty="0">
                <a:latin typeface="Times New Roman"/>
                <a:cs typeface="Times New Roman"/>
              </a:rPr>
              <a:t>Solutions: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b="1" spc="-10" dirty="0">
              <a:latin typeface="Times New Roman"/>
              <a:cs typeface="Times New Roman"/>
            </a:endParaRPr>
          </a:p>
          <a:p>
            <a:pPr marL="12700" marR="10160">
              <a:lnSpc>
                <a:spcPct val="100000"/>
              </a:lnSpc>
            </a:pPr>
            <a:r>
              <a:rPr dirty="0"/>
              <a:t>We</a:t>
            </a:r>
            <a:r>
              <a:rPr spc="70" dirty="0"/>
              <a:t> </a:t>
            </a:r>
            <a:r>
              <a:rPr dirty="0"/>
              <a:t>propose</a:t>
            </a:r>
            <a:r>
              <a:rPr spc="7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mobile</a:t>
            </a:r>
            <a:r>
              <a:rPr spc="85" dirty="0"/>
              <a:t> </a:t>
            </a:r>
            <a:r>
              <a:rPr dirty="0"/>
              <a:t>app</a:t>
            </a:r>
            <a:r>
              <a:rPr spc="90" dirty="0"/>
              <a:t> </a:t>
            </a:r>
            <a:r>
              <a:rPr dirty="0"/>
              <a:t>+</a:t>
            </a:r>
            <a:r>
              <a:rPr spc="60" dirty="0"/>
              <a:t> </a:t>
            </a:r>
            <a:r>
              <a:rPr dirty="0"/>
              <a:t>website</a:t>
            </a:r>
            <a:r>
              <a:rPr spc="80" dirty="0"/>
              <a:t> </a:t>
            </a:r>
            <a:r>
              <a:rPr dirty="0"/>
              <a:t>that</a:t>
            </a:r>
            <a:r>
              <a:rPr spc="75" dirty="0"/>
              <a:t> </a:t>
            </a:r>
            <a:r>
              <a:rPr dirty="0"/>
              <a:t>acts</a:t>
            </a:r>
            <a:r>
              <a:rPr spc="80" dirty="0"/>
              <a:t> </a:t>
            </a:r>
            <a:r>
              <a:rPr dirty="0"/>
              <a:t>as</a:t>
            </a:r>
            <a:r>
              <a:rPr spc="9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20" dirty="0"/>
              <a:t>one- </a:t>
            </a:r>
            <a:r>
              <a:rPr dirty="0"/>
              <a:t>stop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55" dirty="0"/>
              <a:t> </a:t>
            </a:r>
            <a:r>
              <a:rPr dirty="0"/>
              <a:t>solution</a:t>
            </a:r>
            <a:r>
              <a:rPr spc="-8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farmers.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298450" indent="-285750" algn="just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dirty="0"/>
              <a:t>Land</a:t>
            </a:r>
            <a:r>
              <a:rPr spc="100" dirty="0"/>
              <a:t> </a:t>
            </a:r>
            <a:r>
              <a:rPr dirty="0"/>
              <a:t>Renting</a:t>
            </a:r>
            <a:r>
              <a:rPr spc="95" dirty="0"/>
              <a:t> </a:t>
            </a:r>
            <a:r>
              <a:rPr dirty="0"/>
              <a:t>Module</a:t>
            </a:r>
            <a:r>
              <a:rPr spc="75" dirty="0"/>
              <a:t> </a:t>
            </a:r>
            <a:r>
              <a:rPr dirty="0"/>
              <a:t>–</a:t>
            </a:r>
            <a:r>
              <a:rPr spc="105" dirty="0"/>
              <a:t> </a:t>
            </a:r>
            <a:r>
              <a:rPr dirty="0"/>
              <a:t>Farmers</a:t>
            </a:r>
            <a:r>
              <a:rPr spc="125" dirty="0"/>
              <a:t> </a:t>
            </a:r>
            <a:r>
              <a:rPr dirty="0"/>
              <a:t>can</a:t>
            </a:r>
            <a:r>
              <a:rPr spc="110" dirty="0"/>
              <a:t> </a:t>
            </a:r>
            <a:r>
              <a:rPr dirty="0"/>
              <a:t>lease</a:t>
            </a:r>
            <a:r>
              <a:rPr spc="100" dirty="0"/>
              <a:t> </a:t>
            </a:r>
            <a:r>
              <a:rPr spc="-10" dirty="0"/>
              <a:t>unused</a:t>
            </a:r>
          </a:p>
          <a:p>
            <a:pPr marL="299085" algn="just">
              <a:lnSpc>
                <a:spcPct val="100000"/>
              </a:lnSpc>
            </a:pPr>
            <a:r>
              <a:rPr dirty="0"/>
              <a:t>farmland</a:t>
            </a:r>
            <a:r>
              <a:rPr spc="-35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rent</a:t>
            </a:r>
            <a:r>
              <a:rPr spc="-65" dirty="0"/>
              <a:t> </a:t>
            </a:r>
            <a:r>
              <a:rPr dirty="0"/>
              <a:t>land</a:t>
            </a:r>
            <a:r>
              <a:rPr spc="-25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seasonal</a:t>
            </a:r>
            <a:r>
              <a:rPr spc="-75" dirty="0"/>
              <a:t> </a:t>
            </a:r>
            <a:r>
              <a:rPr spc="-10" dirty="0"/>
              <a:t>crops.</a:t>
            </a:r>
          </a:p>
          <a:p>
            <a:pPr marL="299085" marR="5080" indent="-287020" algn="just">
              <a:lnSpc>
                <a:spcPct val="100000"/>
              </a:lnSpc>
              <a:buFont typeface="Wingdings"/>
              <a:buChar char=""/>
              <a:tabLst>
                <a:tab pos="299085" algn="l"/>
              </a:tabLst>
            </a:pPr>
            <a:r>
              <a:rPr dirty="0"/>
              <a:t>Equipment</a:t>
            </a:r>
            <a:r>
              <a:rPr spc="165" dirty="0"/>
              <a:t>  </a:t>
            </a:r>
            <a:r>
              <a:rPr dirty="0"/>
              <a:t>Sharing</a:t>
            </a:r>
            <a:r>
              <a:rPr spc="165" dirty="0"/>
              <a:t>  </a:t>
            </a:r>
            <a:r>
              <a:rPr dirty="0"/>
              <a:t>System</a:t>
            </a:r>
            <a:r>
              <a:rPr spc="160" dirty="0"/>
              <a:t>  </a:t>
            </a:r>
            <a:r>
              <a:rPr dirty="0"/>
              <a:t>–</a:t>
            </a:r>
            <a:r>
              <a:rPr spc="170" dirty="0"/>
              <a:t>  </a:t>
            </a:r>
            <a:r>
              <a:rPr dirty="0"/>
              <a:t>Owners</a:t>
            </a:r>
            <a:r>
              <a:rPr spc="165" dirty="0"/>
              <a:t>  </a:t>
            </a:r>
            <a:r>
              <a:rPr dirty="0"/>
              <a:t>can</a:t>
            </a:r>
            <a:r>
              <a:rPr spc="170" dirty="0"/>
              <a:t>  </a:t>
            </a:r>
            <a:r>
              <a:rPr spc="-20" dirty="0"/>
              <a:t>rent </a:t>
            </a:r>
            <a:r>
              <a:rPr dirty="0"/>
              <a:t>tractors,</a:t>
            </a:r>
            <a:r>
              <a:rPr spc="190" dirty="0"/>
              <a:t>  </a:t>
            </a:r>
            <a:r>
              <a:rPr dirty="0"/>
              <a:t>harvesters,</a:t>
            </a:r>
            <a:r>
              <a:rPr spc="195" dirty="0"/>
              <a:t>  </a:t>
            </a:r>
            <a:r>
              <a:rPr dirty="0"/>
              <a:t>and</a:t>
            </a:r>
            <a:r>
              <a:rPr spc="200" dirty="0"/>
              <a:t>  </a:t>
            </a:r>
            <a:r>
              <a:rPr dirty="0"/>
              <a:t>tools</a:t>
            </a:r>
            <a:r>
              <a:rPr spc="195" dirty="0"/>
              <a:t>  </a:t>
            </a:r>
            <a:r>
              <a:rPr dirty="0"/>
              <a:t>to</a:t>
            </a:r>
            <a:r>
              <a:rPr spc="200" dirty="0"/>
              <a:t>  </a:t>
            </a:r>
            <a:r>
              <a:rPr dirty="0"/>
              <a:t>other</a:t>
            </a:r>
            <a:r>
              <a:rPr spc="200" dirty="0"/>
              <a:t>  </a:t>
            </a:r>
            <a:r>
              <a:rPr spc="-10" dirty="0"/>
              <a:t>farmers </a:t>
            </a:r>
            <a:r>
              <a:rPr dirty="0"/>
              <a:t>when</a:t>
            </a:r>
            <a:r>
              <a:rPr spc="-45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in</a:t>
            </a:r>
            <a:r>
              <a:rPr spc="-20" dirty="0"/>
              <a:t> use.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53970" y="195198"/>
            <a:ext cx="61537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/>
                <a:cs typeface="Times New Roman"/>
              </a:rPr>
              <a:t>AGRIVEER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–</a:t>
            </a:r>
            <a:r>
              <a:rPr b="1" spc="-8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Digital</a:t>
            </a:r>
            <a:r>
              <a:rPr b="1" spc="-114" dirty="0">
                <a:latin typeface="Times New Roman"/>
                <a:cs typeface="Times New Roman"/>
              </a:rPr>
              <a:t> </a:t>
            </a:r>
            <a:r>
              <a:rPr b="1" spc="-30" dirty="0">
                <a:latin typeface="Times New Roman"/>
                <a:cs typeface="Times New Roman"/>
              </a:rPr>
              <a:t>Transformation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of </a:t>
            </a:r>
            <a:r>
              <a:rPr b="1" spc="-10" dirty="0">
                <a:latin typeface="Times New Roman"/>
                <a:cs typeface="Times New Roman"/>
              </a:rPr>
              <a:t>Agriculture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231635" y="1601724"/>
            <a:ext cx="5960745" cy="5081270"/>
            <a:chOff x="6231635" y="1601724"/>
            <a:chExt cx="5960745" cy="50812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1635" y="1601724"/>
              <a:ext cx="5960364" cy="2744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1635" y="4375403"/>
              <a:ext cx="5960364" cy="23073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802626" y="1060449"/>
            <a:ext cx="2071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PROTOTYPE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46803" y="303022"/>
            <a:ext cx="2868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28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32788"/>
            <a:ext cx="4201668" cy="49560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3658" y="1257427"/>
            <a:ext cx="2178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TECH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STACK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7011" y="1716023"/>
            <a:ext cx="7904988" cy="49667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50865" y="1172972"/>
            <a:ext cx="4718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ARCHITECTURE/WORKLOW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Feasibility</a:t>
            </a:r>
            <a:r>
              <a:rPr spc="-4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9490"/>
            <a:ext cx="3854196" cy="55885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5383" y="1266442"/>
            <a:ext cx="4166616" cy="55915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9540" y="1786127"/>
            <a:ext cx="3994404" cy="50718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0261" y="1159002"/>
            <a:ext cx="20694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PROTOTYPE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0">
              <a:lnSpc>
                <a:spcPct val="100000"/>
              </a:lnSpc>
              <a:spcBef>
                <a:spcPts val="95"/>
              </a:spcBef>
            </a:pPr>
            <a:r>
              <a:rPr dirty="0"/>
              <a:t>Impact</a:t>
            </a:r>
            <a:r>
              <a:rPr spc="-5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1069847"/>
            <a:ext cx="4893563" cy="5583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28800"/>
            <a:ext cx="3375660" cy="4824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68868" y="2151888"/>
            <a:ext cx="3723131" cy="21107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55152" y="4416552"/>
            <a:ext cx="3736848" cy="22509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8929" y="1243329"/>
            <a:ext cx="20694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PROTOTYPE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7604" y="1269237"/>
            <a:ext cx="2072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PROTOTYPE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4161" y="1955292"/>
            <a:ext cx="2437130" cy="24765"/>
            <a:chOff x="784161" y="1955292"/>
            <a:chExt cx="2437130" cy="24765"/>
          </a:xfrm>
        </p:grpSpPr>
        <p:sp>
          <p:nvSpPr>
            <p:cNvPr id="3" name="object 3"/>
            <p:cNvSpPr/>
            <p:nvPr/>
          </p:nvSpPr>
          <p:spPr>
            <a:xfrm>
              <a:off x="784161" y="1967484"/>
              <a:ext cx="2369820" cy="12700"/>
            </a:xfrm>
            <a:custGeom>
              <a:avLst/>
              <a:gdLst/>
              <a:ahLst/>
              <a:cxnLst/>
              <a:rect l="l" t="t" r="r" b="b"/>
              <a:pathLst>
                <a:path w="2369820" h="12700">
                  <a:moveTo>
                    <a:pt x="2369820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369820" y="12191"/>
                  </a:lnTo>
                  <a:lnTo>
                    <a:pt x="236982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53918" y="1955292"/>
              <a:ext cx="67310" cy="18415"/>
            </a:xfrm>
            <a:custGeom>
              <a:avLst/>
              <a:gdLst/>
              <a:ahLst/>
              <a:cxnLst/>
              <a:rect l="l" t="t" r="r" b="b"/>
              <a:pathLst>
                <a:path w="67310" h="18414">
                  <a:moveTo>
                    <a:pt x="67056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7056" y="1828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62705" y="1955292"/>
            <a:ext cx="6248400" cy="24765"/>
            <a:chOff x="3362705" y="1955292"/>
            <a:chExt cx="6248400" cy="24765"/>
          </a:xfrm>
        </p:grpSpPr>
        <p:sp>
          <p:nvSpPr>
            <p:cNvPr id="6" name="object 6"/>
            <p:cNvSpPr/>
            <p:nvPr/>
          </p:nvSpPr>
          <p:spPr>
            <a:xfrm>
              <a:off x="3362705" y="1967484"/>
              <a:ext cx="2585085" cy="12700"/>
            </a:xfrm>
            <a:custGeom>
              <a:avLst/>
              <a:gdLst/>
              <a:ahLst/>
              <a:cxnLst/>
              <a:rect l="l" t="t" r="r" b="b"/>
              <a:pathLst>
                <a:path w="2585085" h="12700">
                  <a:moveTo>
                    <a:pt x="2584704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584704" y="12191"/>
                  </a:lnTo>
                  <a:lnTo>
                    <a:pt x="258470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47410" y="1955292"/>
              <a:ext cx="128270" cy="18415"/>
            </a:xfrm>
            <a:custGeom>
              <a:avLst/>
              <a:gdLst/>
              <a:ahLst/>
              <a:cxnLst/>
              <a:rect l="l" t="t" r="r" b="b"/>
              <a:pathLst>
                <a:path w="128270" h="18414">
                  <a:moveTo>
                    <a:pt x="128015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28015" y="18287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75426" y="1967484"/>
              <a:ext cx="3473450" cy="12700"/>
            </a:xfrm>
            <a:custGeom>
              <a:avLst/>
              <a:gdLst/>
              <a:ahLst/>
              <a:cxnLst/>
              <a:rect l="l" t="t" r="r" b="b"/>
              <a:pathLst>
                <a:path w="3473450" h="12700">
                  <a:moveTo>
                    <a:pt x="3473196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473196" y="12191"/>
                  </a:lnTo>
                  <a:lnTo>
                    <a:pt x="347319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48621" y="1955292"/>
              <a:ext cx="62865" cy="18415"/>
            </a:xfrm>
            <a:custGeom>
              <a:avLst/>
              <a:gdLst/>
              <a:ahLst/>
              <a:cxnLst/>
              <a:rect l="l" t="t" r="r" b="b"/>
              <a:pathLst>
                <a:path w="62865" h="18414">
                  <a:moveTo>
                    <a:pt x="624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2483" y="18287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165853" y="2924555"/>
            <a:ext cx="6018530" cy="24765"/>
            <a:chOff x="4165853" y="2924555"/>
            <a:chExt cx="6018530" cy="24765"/>
          </a:xfrm>
        </p:grpSpPr>
        <p:sp>
          <p:nvSpPr>
            <p:cNvPr id="11" name="object 11"/>
            <p:cNvSpPr/>
            <p:nvPr/>
          </p:nvSpPr>
          <p:spPr>
            <a:xfrm>
              <a:off x="4165853" y="2936747"/>
              <a:ext cx="5957570" cy="12700"/>
            </a:xfrm>
            <a:custGeom>
              <a:avLst/>
              <a:gdLst/>
              <a:ahLst/>
              <a:cxnLst/>
              <a:rect l="l" t="t" r="r" b="b"/>
              <a:pathLst>
                <a:path w="5957570" h="12700">
                  <a:moveTo>
                    <a:pt x="5957316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5957316" y="12191"/>
                  </a:lnTo>
                  <a:lnTo>
                    <a:pt x="595731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23169" y="2924555"/>
              <a:ext cx="60960" cy="18415"/>
            </a:xfrm>
            <a:custGeom>
              <a:avLst/>
              <a:gdLst/>
              <a:ahLst/>
              <a:cxnLst/>
              <a:rect l="l" t="t" r="r" b="b"/>
              <a:pathLst>
                <a:path w="60959" h="18414">
                  <a:moveTo>
                    <a:pt x="6095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0959" y="18287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988302" y="3784091"/>
            <a:ext cx="2941320" cy="24765"/>
            <a:chOff x="6988302" y="3784091"/>
            <a:chExt cx="2941320" cy="24765"/>
          </a:xfrm>
        </p:grpSpPr>
        <p:sp>
          <p:nvSpPr>
            <p:cNvPr id="14" name="object 14"/>
            <p:cNvSpPr/>
            <p:nvPr/>
          </p:nvSpPr>
          <p:spPr>
            <a:xfrm>
              <a:off x="6988302" y="3796284"/>
              <a:ext cx="2880360" cy="12700"/>
            </a:xfrm>
            <a:custGeom>
              <a:avLst/>
              <a:gdLst/>
              <a:ahLst/>
              <a:cxnLst/>
              <a:rect l="l" t="t" r="r" b="b"/>
              <a:pathLst>
                <a:path w="2880359" h="12700">
                  <a:moveTo>
                    <a:pt x="2880359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880359" y="12191"/>
                  </a:lnTo>
                  <a:lnTo>
                    <a:pt x="288035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68662" y="3784091"/>
              <a:ext cx="60960" cy="18415"/>
            </a:xfrm>
            <a:custGeom>
              <a:avLst/>
              <a:gdLst/>
              <a:ahLst/>
              <a:cxnLst/>
              <a:rect l="l" t="t" r="r" b="b"/>
              <a:pathLst>
                <a:path w="60959" h="18414">
                  <a:moveTo>
                    <a:pt x="6095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0959" y="18287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4161" y="4241291"/>
            <a:ext cx="2150745" cy="24765"/>
            <a:chOff x="784161" y="4241291"/>
            <a:chExt cx="2150745" cy="24765"/>
          </a:xfrm>
        </p:grpSpPr>
        <p:sp>
          <p:nvSpPr>
            <p:cNvPr id="17" name="object 17"/>
            <p:cNvSpPr/>
            <p:nvPr/>
          </p:nvSpPr>
          <p:spPr>
            <a:xfrm>
              <a:off x="784161" y="4253484"/>
              <a:ext cx="2077720" cy="12700"/>
            </a:xfrm>
            <a:custGeom>
              <a:avLst/>
              <a:gdLst/>
              <a:ahLst/>
              <a:cxnLst/>
              <a:rect l="l" t="t" r="r" b="b"/>
              <a:pathLst>
                <a:path w="2077720" h="12700">
                  <a:moveTo>
                    <a:pt x="2077212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077212" y="12191"/>
                  </a:lnTo>
                  <a:lnTo>
                    <a:pt x="207721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61309" y="4241291"/>
              <a:ext cx="73660" cy="18415"/>
            </a:xfrm>
            <a:custGeom>
              <a:avLst/>
              <a:gdLst/>
              <a:ahLst/>
              <a:cxnLst/>
              <a:rect l="l" t="t" r="r" b="b"/>
              <a:pathLst>
                <a:path w="73660" h="18414">
                  <a:moveTo>
                    <a:pt x="73151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73151" y="1828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073145" y="4241291"/>
            <a:ext cx="3542029" cy="24765"/>
            <a:chOff x="3073145" y="4241291"/>
            <a:chExt cx="3542029" cy="24765"/>
          </a:xfrm>
        </p:grpSpPr>
        <p:sp>
          <p:nvSpPr>
            <p:cNvPr id="20" name="object 20"/>
            <p:cNvSpPr/>
            <p:nvPr/>
          </p:nvSpPr>
          <p:spPr>
            <a:xfrm>
              <a:off x="3073145" y="4253483"/>
              <a:ext cx="3474720" cy="12700"/>
            </a:xfrm>
            <a:custGeom>
              <a:avLst/>
              <a:gdLst/>
              <a:ahLst/>
              <a:cxnLst/>
              <a:rect l="l" t="t" r="r" b="b"/>
              <a:pathLst>
                <a:path w="3474720" h="12700">
                  <a:moveTo>
                    <a:pt x="347472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474720" y="12192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47866" y="4241291"/>
              <a:ext cx="67310" cy="18415"/>
            </a:xfrm>
            <a:custGeom>
              <a:avLst/>
              <a:gdLst/>
              <a:ahLst/>
              <a:cxnLst/>
              <a:rect l="l" t="t" r="r" b="b"/>
              <a:pathLst>
                <a:path w="67309" h="18414">
                  <a:moveTo>
                    <a:pt x="67055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7055" y="1828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84161" y="4698491"/>
            <a:ext cx="8330565" cy="24765"/>
            <a:chOff x="784161" y="4698491"/>
            <a:chExt cx="8330565" cy="24765"/>
          </a:xfrm>
        </p:grpSpPr>
        <p:sp>
          <p:nvSpPr>
            <p:cNvPr id="23" name="object 23"/>
            <p:cNvSpPr/>
            <p:nvPr/>
          </p:nvSpPr>
          <p:spPr>
            <a:xfrm>
              <a:off x="784161" y="4710683"/>
              <a:ext cx="8267700" cy="12700"/>
            </a:xfrm>
            <a:custGeom>
              <a:avLst/>
              <a:gdLst/>
              <a:ahLst/>
              <a:cxnLst/>
              <a:rect l="l" t="t" r="r" b="b"/>
              <a:pathLst>
                <a:path w="8267700" h="12700">
                  <a:moveTo>
                    <a:pt x="8267636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267636" y="12192"/>
                  </a:lnTo>
                  <a:lnTo>
                    <a:pt x="826763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51797" y="4698491"/>
              <a:ext cx="62865" cy="18415"/>
            </a:xfrm>
            <a:custGeom>
              <a:avLst/>
              <a:gdLst/>
              <a:ahLst/>
              <a:cxnLst/>
              <a:rect l="l" t="t" r="r" b="b"/>
              <a:pathLst>
                <a:path w="62865" h="18414">
                  <a:moveTo>
                    <a:pt x="624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2483" y="18287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84161" y="5155691"/>
            <a:ext cx="6350635" cy="24765"/>
            <a:chOff x="784161" y="5155691"/>
            <a:chExt cx="6350635" cy="24765"/>
          </a:xfrm>
        </p:grpSpPr>
        <p:sp>
          <p:nvSpPr>
            <p:cNvPr id="26" name="object 26"/>
            <p:cNvSpPr/>
            <p:nvPr/>
          </p:nvSpPr>
          <p:spPr>
            <a:xfrm>
              <a:off x="784161" y="5155691"/>
              <a:ext cx="3785870" cy="18415"/>
            </a:xfrm>
            <a:custGeom>
              <a:avLst/>
              <a:gdLst/>
              <a:ahLst/>
              <a:cxnLst/>
              <a:rect l="l" t="t" r="r" b="b"/>
              <a:pathLst>
                <a:path w="3785870" h="18414">
                  <a:moveTo>
                    <a:pt x="3785552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785552" y="18287"/>
                  </a:lnTo>
                  <a:lnTo>
                    <a:pt x="3785552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69714" y="5167884"/>
              <a:ext cx="2502535" cy="12700"/>
            </a:xfrm>
            <a:custGeom>
              <a:avLst/>
              <a:gdLst/>
              <a:ahLst/>
              <a:cxnLst/>
              <a:rect l="l" t="t" r="r" b="b"/>
              <a:pathLst>
                <a:path w="2502534" h="12700">
                  <a:moveTo>
                    <a:pt x="250240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502408" y="12191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72121" y="5155691"/>
              <a:ext cx="62865" cy="18415"/>
            </a:xfrm>
            <a:custGeom>
              <a:avLst/>
              <a:gdLst/>
              <a:ahLst/>
              <a:cxnLst/>
              <a:rect l="l" t="t" r="r" b="b"/>
              <a:pathLst>
                <a:path w="62865" h="18414">
                  <a:moveTo>
                    <a:pt x="624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2483" y="18287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84161" y="5667705"/>
            <a:ext cx="2409825" cy="24765"/>
            <a:chOff x="784161" y="5667705"/>
            <a:chExt cx="2409825" cy="24765"/>
          </a:xfrm>
        </p:grpSpPr>
        <p:sp>
          <p:nvSpPr>
            <p:cNvPr id="30" name="object 30"/>
            <p:cNvSpPr/>
            <p:nvPr/>
          </p:nvSpPr>
          <p:spPr>
            <a:xfrm>
              <a:off x="784161" y="5679897"/>
              <a:ext cx="2346960" cy="12700"/>
            </a:xfrm>
            <a:custGeom>
              <a:avLst/>
              <a:gdLst/>
              <a:ahLst/>
              <a:cxnLst/>
              <a:rect l="l" t="t" r="r" b="b"/>
              <a:pathLst>
                <a:path w="2346960" h="12700">
                  <a:moveTo>
                    <a:pt x="2346960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346960" y="12191"/>
                  </a:lnTo>
                  <a:lnTo>
                    <a:pt x="234696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31057" y="5667705"/>
              <a:ext cx="62865" cy="18415"/>
            </a:xfrm>
            <a:custGeom>
              <a:avLst/>
              <a:gdLst/>
              <a:ahLst/>
              <a:cxnLst/>
              <a:rect l="l" t="t" r="r" b="b"/>
              <a:pathLst>
                <a:path w="62864" h="18414">
                  <a:moveTo>
                    <a:pt x="624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62483" y="18287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784161" y="6539433"/>
            <a:ext cx="6737984" cy="12700"/>
          </a:xfrm>
          <a:custGeom>
            <a:avLst/>
            <a:gdLst/>
            <a:ahLst/>
            <a:cxnLst/>
            <a:rect l="l" t="t" r="r" b="b"/>
            <a:pathLst>
              <a:path w="6737984" h="12700">
                <a:moveTo>
                  <a:pt x="6737540" y="0"/>
                </a:moveTo>
                <a:lnTo>
                  <a:pt x="0" y="0"/>
                </a:lnTo>
                <a:lnTo>
                  <a:pt x="0" y="12191"/>
                </a:lnTo>
                <a:lnTo>
                  <a:pt x="6737540" y="12191"/>
                </a:lnTo>
                <a:lnTo>
                  <a:pt x="67375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28650" y="1173835"/>
            <a:ext cx="11215370" cy="540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22475" indent="-342900">
              <a:lnSpc>
                <a:spcPct val="132000"/>
              </a:lnSpc>
              <a:spcBef>
                <a:spcPts val="100"/>
              </a:spcBef>
              <a:buSzPct val="140000"/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Govt.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agri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sector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(NITI</a:t>
            </a:r>
            <a:r>
              <a:rPr sz="20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Aayog,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Ministry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Agriculture):- </a:t>
            </a:r>
            <a:r>
              <a:rPr sz="2000" spc="-25" dirty="0">
                <a:solidFill>
                  <a:srgbClr val="0462C1"/>
                </a:solidFill>
                <a:latin typeface="Times New Roman"/>
                <a:cs typeface="Times New Roman"/>
                <a:hlinkClick r:id="rId2"/>
              </a:rPr>
              <a:t>https://www.niti.gov.in/</a:t>
            </a:r>
            <a:r>
              <a:rPr sz="2000" spc="4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4C6E7"/>
                </a:solidFill>
                <a:latin typeface="Times New Roman"/>
                <a:cs typeface="Times New Roman"/>
              </a:rPr>
              <a:t>,</a:t>
            </a:r>
            <a:r>
              <a:rPr sz="2000" spc="160" dirty="0">
                <a:solidFill>
                  <a:srgbClr val="B4C6E7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462C1"/>
                </a:solidFill>
                <a:latin typeface="Times New Roman"/>
                <a:cs typeface="Times New Roman"/>
                <a:hlinkClick r:id="rId3"/>
              </a:rPr>
              <a:t>https://agriwelfare.gov.in/</a:t>
            </a:r>
            <a:r>
              <a:rPr sz="2000" spc="-20" dirty="0">
                <a:solidFill>
                  <a:srgbClr val="B4C6E7"/>
                </a:solidFill>
                <a:latin typeface="Times New Roman"/>
                <a:cs typeface="Times New Roman"/>
              </a:rPr>
              <a:t>,</a:t>
            </a:r>
            <a:r>
              <a:rPr sz="2000" spc="35" dirty="0">
                <a:solidFill>
                  <a:srgbClr val="B4C6E7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https://www.accessagriculture.org/</a:t>
            </a:r>
            <a:r>
              <a:rPr sz="2000" spc="-10" dirty="0">
                <a:solidFill>
                  <a:srgbClr val="B4C6E7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u="heavy" spc="-10" dirty="0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Times New Roman"/>
                <a:cs typeface="Times New Roman"/>
              </a:rPr>
              <a:t>https://upag.gov.in/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434"/>
              </a:spcBef>
              <a:buSzPct val="140000"/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FAO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agriculture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:-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https://www.fao.org/india/fao-in-</a:t>
            </a:r>
            <a:r>
              <a:rPr sz="2000" spc="-20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india/india-</a:t>
            </a:r>
            <a:r>
              <a:rPr sz="2000" spc="-25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at-</a:t>
            </a:r>
            <a:r>
              <a:rPr sz="2000" spc="-20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a-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glance/en/</a:t>
            </a:r>
            <a:r>
              <a:rPr sz="2000" spc="-10" dirty="0">
                <a:solidFill>
                  <a:srgbClr val="4F81BB"/>
                </a:solidFill>
                <a:latin typeface="Times New Roman"/>
                <a:cs typeface="Times New Roman"/>
              </a:rPr>
              <a:t>, </a:t>
            </a:r>
            <a:r>
              <a:rPr sz="2000" u="heavy" spc="-20" dirty="0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Times New Roman"/>
                <a:cs typeface="Times New Roman"/>
              </a:rPr>
              <a:t>https://agribegri.com/?srsltid=AfmBOooYVycXMH8rw35pH68zh1_xHu0Bcm0QzTpBf_8riUBEFu4rqwJy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SzPct val="14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(AgriBazaar,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EM3</a:t>
            </a:r>
            <a:r>
              <a:rPr sz="20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Agri,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KisanKonnect):-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https://www.agribazaar.com/</a:t>
            </a:r>
            <a:endParaRPr sz="2000">
              <a:latin typeface="Times New Roman"/>
              <a:cs typeface="Times New Roman"/>
            </a:endParaRPr>
          </a:p>
          <a:p>
            <a:pPr marL="355600" marR="2519045">
              <a:lnSpc>
                <a:spcPct val="150000"/>
              </a:lnSpc>
              <a:spcBef>
                <a:spcPts val="5"/>
              </a:spcBef>
              <a:tabLst>
                <a:tab pos="2644775" algn="l"/>
              </a:tabLst>
            </a:pP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https://em3agri.com/</a:t>
            </a:r>
            <a:r>
              <a:rPr sz="2000" dirty="0">
                <a:solidFill>
                  <a:srgbClr val="0462C1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4"/>
              </a:rPr>
              <a:t>https://www.accessagriculture.org/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https://www.kisankonnect.in/?srsltid=AfmBOoqH3CZR0YIVPuCahWEcMnHln2</a:t>
            </a:r>
            <a:r>
              <a:rPr sz="2000" spc="-20" dirty="0">
                <a:solidFill>
                  <a:srgbClr val="4F81BB"/>
                </a:solidFill>
                <a:latin typeface="Times New Roman"/>
                <a:cs typeface="Times New Roman"/>
              </a:rPr>
              <a:t>, </a:t>
            </a:r>
            <a:r>
              <a:rPr sz="2000" spc="-10" dirty="0">
                <a:solidFill>
                  <a:srgbClr val="4F81BB"/>
                </a:solidFill>
                <a:latin typeface="Times New Roman"/>
                <a:cs typeface="Times New Roman"/>
              </a:rPr>
              <a:t>PHxlxLecKeQqGLxUWBs68DH2b,</a:t>
            </a:r>
            <a:r>
              <a:rPr sz="2000" spc="30" dirty="0">
                <a:solidFill>
                  <a:srgbClr val="4F81BB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https://agmarknet.gov.in/</a:t>
            </a:r>
            <a:r>
              <a:rPr sz="2000" spc="-10" dirty="0">
                <a:solidFill>
                  <a:srgbClr val="4F81BB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630"/>
              </a:spcBef>
            </a:pP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https://agristack.gov.in/</a:t>
            </a:r>
            <a:r>
              <a:rPr sz="2000" spc="-10" dirty="0">
                <a:solidFill>
                  <a:srgbClr val="4F81BB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SzPct val="14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Farmer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Producer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Organizations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(FPOs)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models:-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https://farmerconnect.apeda.gov.in/Home/ForGroups?PaccessID=1</a:t>
            </a:r>
            <a:r>
              <a:rPr sz="2000" spc="-10" dirty="0">
                <a:solidFill>
                  <a:srgbClr val="4F81BB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521702" y="6527241"/>
            <a:ext cx="60960" cy="18415"/>
          </a:xfrm>
          <a:custGeom>
            <a:avLst/>
            <a:gdLst/>
            <a:ahLst/>
            <a:cxnLst/>
            <a:rect l="l" t="t" r="r" b="b"/>
            <a:pathLst>
              <a:path w="60959" h="18415">
                <a:moveTo>
                  <a:pt x="60959" y="0"/>
                </a:moveTo>
                <a:lnTo>
                  <a:pt x="0" y="0"/>
                </a:lnTo>
                <a:lnTo>
                  <a:pt x="0" y="18287"/>
                </a:lnTo>
                <a:lnTo>
                  <a:pt x="60959" y="18287"/>
                </a:lnTo>
                <a:lnTo>
                  <a:pt x="60959" y="0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113021" y="345186"/>
            <a:ext cx="3590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Research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References</a:t>
            </a:r>
          </a:p>
        </p:txBody>
      </p:sp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1363979" cy="12054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283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MT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AGRIVEER – Digital Transformation of Agriculture</vt:lpstr>
      <vt:lpstr>PowerPoint Presentation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gauri mane</cp:lastModifiedBy>
  <cp:revision>1</cp:revision>
  <dcterms:created xsi:type="dcterms:W3CDTF">2026-04-25T06:01:37Z</dcterms:created>
  <dcterms:modified xsi:type="dcterms:W3CDTF">2026-04-25T07:38:58Z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2026-04-25T00:00:00Z</vt:filetime>
  </property>
  <property fmtid="{D5CDD505-2E9C-101B-9397-08002B2CF9AE}" pid="5" name="Producer">
    <vt:lpwstr>www.ilovepdf.com</vt:lpwstr>
  </property>
</Properties>
</file>